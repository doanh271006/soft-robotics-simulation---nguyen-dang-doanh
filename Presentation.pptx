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Stinger Wide Bold" charset="1" panose="00000800000000000000"/>
      <p:regular r:id="rId17"/>
    </p:embeddedFont>
    <p:embeddedFont>
      <p:font typeface="Codec Pro Bold" charset="1" panose="00000600000000000000"/>
      <p:regular r:id="rId18"/>
    </p:embeddedFont>
    <p:embeddedFont>
      <p:font typeface="Codec Pro" charset="1" panose="00000500000000000000"/>
      <p:regular r:id="rId19"/>
    </p:embeddedFont>
    <p:embeddedFont>
      <p:font typeface="Stinger Wide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3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12" Target="../media/image14.pn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svg" Type="http://schemas.openxmlformats.org/officeDocument/2006/relationships/image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1.png" Type="http://schemas.openxmlformats.org/officeDocument/2006/relationships/image"/><Relationship Id="rId5" Target="../media/image2.png" Type="http://schemas.openxmlformats.org/officeDocument/2006/relationships/image"/><Relationship Id="rId6" Target="../media/image3.png" Type="http://schemas.openxmlformats.org/officeDocument/2006/relationships/image"/><Relationship Id="rId7" Target="../media/image4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02607" y="3238489"/>
            <a:ext cx="11482787" cy="19050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5"/>
              </a:lnSpc>
            </a:pPr>
            <a:r>
              <a:rPr lang="en-US" sz="7500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Cable-d</a:t>
            </a:r>
            <a:r>
              <a:rPr lang="en-US" b="true" sz="7500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riven Soft Finger Simulation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71653">
            <a:off x="6899607" y="-3050983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785" y="8078812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4729301" y="5900505"/>
            <a:ext cx="8829398" cy="1825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 spc="55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Nguyen Dang Doanh  202418423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76596" y="2775377"/>
            <a:ext cx="9534809" cy="4270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863587" indent="-431793" lvl="1">
              <a:lnSpc>
                <a:spcPts val="5599"/>
              </a:lnSpc>
              <a:buAutoNum type="arabicPeriod" startAt="1"/>
            </a:pPr>
            <a:r>
              <a:rPr lang="en-US" sz="3999" spc="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PROJECT OVERVIEW </a:t>
            </a:r>
          </a:p>
          <a:p>
            <a:pPr algn="just" marL="863587" indent="-431793" lvl="1">
              <a:lnSpc>
                <a:spcPts val="5599"/>
              </a:lnSpc>
              <a:buAutoNum type="arabicPeriod" startAt="1"/>
            </a:pPr>
            <a:r>
              <a:rPr lang="en-US" sz="3999" spc="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PHYSICAL MODEL &amp; FOUNDATION </a:t>
            </a:r>
          </a:p>
          <a:p>
            <a:pPr algn="just" marL="863587" indent="-431793" lvl="1">
              <a:lnSpc>
                <a:spcPts val="5599"/>
              </a:lnSpc>
              <a:buAutoNum type="arabicPeriod" startAt="1"/>
            </a:pPr>
            <a:r>
              <a:rPr lang="en-US" sz="3999" spc="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DESIGN &amp; IMPLEMENTATION </a:t>
            </a:r>
          </a:p>
          <a:p>
            <a:pPr algn="just" marL="863587" indent="-431793" lvl="1">
              <a:lnSpc>
                <a:spcPts val="5599"/>
              </a:lnSpc>
              <a:buAutoNum type="arabicPeriod" startAt="1"/>
            </a:pPr>
            <a:r>
              <a:rPr lang="en-US" sz="3999" spc="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RESULTS &amp; EVALUATION </a:t>
            </a:r>
          </a:p>
          <a:p>
            <a:pPr algn="just" marL="863587" indent="-431793" lvl="1">
              <a:lnSpc>
                <a:spcPts val="5599"/>
              </a:lnSpc>
              <a:buAutoNum type="arabicPeriod" startAt="1"/>
            </a:pPr>
            <a:r>
              <a:rPr lang="en-US" sz="3999" spc="43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CONCLUSION </a:t>
            </a:r>
          </a:p>
          <a:p>
            <a:pPr algn="just">
              <a:lnSpc>
                <a:spcPts val="55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871030" y="328892"/>
            <a:ext cx="6545941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>
                <a:solidFill>
                  <a:srgbClr val="214184"/>
                </a:solidFill>
                <a:latin typeface="Stinger Wide"/>
                <a:ea typeface="Stinger Wide"/>
                <a:cs typeface="Stinger Wide"/>
                <a:sym typeface="Stinger Wide"/>
              </a:rPr>
              <a:t>Table of contents</a:t>
            </a:r>
          </a:p>
        </p:txBody>
      </p:sp>
      <p:sp>
        <p:nvSpPr>
          <p:cNvPr name="Freeform 11" id="11"/>
          <p:cNvSpPr/>
          <p:nvPr/>
        </p:nvSpPr>
        <p:spPr>
          <a:xfrm flipH="true" flipV="false" rot="0">
            <a:off x="3281798" y="8854345"/>
            <a:ext cx="3204601" cy="2137505"/>
          </a:xfrm>
          <a:custGeom>
            <a:avLst/>
            <a:gdLst/>
            <a:ahLst/>
            <a:cxnLst/>
            <a:rect r="r" b="b" t="t" l="l"/>
            <a:pathLst>
              <a:path h="2137505" w="3204601">
                <a:moveTo>
                  <a:pt x="3204601" y="0"/>
                </a:moveTo>
                <a:lnTo>
                  <a:pt x="0" y="0"/>
                </a:lnTo>
                <a:lnTo>
                  <a:pt x="0" y="2137505"/>
                </a:lnTo>
                <a:lnTo>
                  <a:pt x="3204601" y="2137505"/>
                </a:lnTo>
                <a:lnTo>
                  <a:pt x="3204601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85241" y="1166034"/>
            <a:ext cx="10517519" cy="9048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Project Overview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841045" y="3003423"/>
            <a:ext cx="11700709" cy="42164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Simulati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on Objective: Simulate a soft finger controlled by cable actuation. Observation: Observe the deformation of the elastic material under pulling forces. 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Analysis: Analyze the effect of material stiffness on the bending amplitude of the finger. 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Simulation Platform: SOFA (Simulation Open Framework Architecture) combined with the SoftRobots plugin. 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Core Method: Finite Element Method (FEM) for highly accurate physical simulations.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Versions Used: Python 3.12.1 and SOFA v26.06.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871030" y="327834"/>
            <a:ext cx="6545941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Source code structure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1282" y="3400634"/>
            <a:ext cx="10185436" cy="25400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esh directory: Stores 3D geometric file formats for finite element calculation (.vtk) and graphic visualization (.stl).</a:t>
            </a:r>
          </a:p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FingerwithSTLIB.py: Main file for Scene Setup and integrated Controller. </a:t>
            </a:r>
          </a:p>
          <a:p>
            <a:pPr algn="l" marL="512141" indent="-256071" lvl="1">
              <a:lnSpc>
                <a:spcPts val="3320"/>
              </a:lnSpc>
              <a:buFont typeface="Arial"/>
              <a:buChar char="•"/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Setup Function: Contains the createScene(rootNode) function to build the SOFA Scene Graph.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971550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Physical</a:t>
            </a:r>
            <a:r>
              <a:rPr lang="en-US" b="true" sz="6846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 model and foundation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051282" y="3528411"/>
            <a:ext cx="10185436" cy="2959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Dyna</a:t>
            </a: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mics Model: Initializes the soft-finger dynamics using FEM with elastic material.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Boundary Conditions: BoxROI fixed boundary.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Total Mass: 0.05 kg.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Poisson’s Ratio: 0.45 (silicone/rubbery material).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Young’s Modulus: 400 kPa (default stiffness).</a:t>
            </a:r>
          </a:p>
          <a:p>
            <a:pPr algn="l">
              <a:lnSpc>
                <a:spcPts val="3320"/>
              </a:lnSpc>
            </a:pPr>
            <a:r>
              <a:rPr lang="en-US" sz="2372" spc="26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Gravity: 0.0, -9810.0, 0.0 mm/s² along the -Y-axis.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971550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Design and implementation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10498" y="3097358"/>
            <a:ext cx="11067004" cy="40286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</a:t>
            </a: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able A</a:t>
            </a: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ctuator: Sets up the pulling cable actuator using CableConstraint 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Coordinate Mapping: Uses BarycentricMapping 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Controller Integration: Integrates a custom class inheriting from Sofa.Core.Controller 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Event Listening: Listens to simulation time step events (onAnimateBeginEvent)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Calculation: Automatically calculates and updates the cable contraction value using a smooth Cosine wave function 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Maximum Displacement: The actuator has a maximum cable pull displacement of 40.0 mm 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542336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Simulation flowchart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4348518" y="2534612"/>
            <a:ext cx="9590964" cy="5357452"/>
          </a:xfrm>
          <a:custGeom>
            <a:avLst/>
            <a:gdLst/>
            <a:ahLst/>
            <a:cxnLst/>
            <a:rect r="r" b="b" t="t" l="l"/>
            <a:pathLst>
              <a:path h="5357452" w="9590964">
                <a:moveTo>
                  <a:pt x="0" y="0"/>
                </a:moveTo>
                <a:lnTo>
                  <a:pt x="9590964" y="0"/>
                </a:lnTo>
                <a:lnTo>
                  <a:pt x="9590964" y="5357452"/>
                </a:lnTo>
                <a:lnTo>
                  <a:pt x="0" y="53574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542336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Results and evaluation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905488" y="4299936"/>
            <a:ext cx="12477024" cy="2994884"/>
          </a:xfrm>
          <a:custGeom>
            <a:avLst/>
            <a:gdLst/>
            <a:ahLst/>
            <a:cxnLst/>
            <a:rect r="r" b="b" t="t" l="l"/>
            <a:pathLst>
              <a:path h="2994884" w="12477024">
                <a:moveTo>
                  <a:pt x="0" y="0"/>
                </a:moveTo>
                <a:lnTo>
                  <a:pt x="12477024" y="0"/>
                </a:lnTo>
                <a:lnTo>
                  <a:pt x="12477024" y="2994883"/>
                </a:lnTo>
                <a:lnTo>
                  <a:pt x="0" y="2994883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512056" y="2798948"/>
            <a:ext cx="8458200" cy="1228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178"/>
              </a:lnSpc>
              <a:spcBef>
                <a:spcPct val="0"/>
              </a:spcBef>
            </a:pPr>
            <a:r>
              <a:rPr lang="en-US" sz="227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Study Objective: Investigating the effect of Material Stiffness (youngModulus) while keeping the maximum cable pull stroke constant at 40 mm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971550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Conclusions and limitations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10498" y="2897333"/>
            <a:ext cx="11067004" cy="44286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 Physic</a:t>
            </a: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al In</a:t>
            </a: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teraction (Collision): The current model does not prevent self-collision if the finger is bent excessively.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Cable Simplification: The cable is simulated ideally, ignoring friction between the cable and the internal cavities of the finger wall.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Design Constraints: The finger is a solid block, lacking the bellows structure commonly seen in reality to optimize the bending angle.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Ideal Actuation Assumptions: The simulation assumes an idealized cable pull with instantaneous response and infinite force. It does not account for the electromechanical constraints of a real actuator system, such as motor torque limits, inertia, or signal delays within the physical control loop.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042471" y="971550"/>
            <a:ext cx="8203057" cy="1743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641"/>
              </a:lnSpc>
            </a:pPr>
            <a:r>
              <a:rPr lang="en-US" sz="6846" b="true">
                <a:solidFill>
                  <a:srgbClr val="214184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Future developments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654871" y="3456469"/>
            <a:ext cx="11067004" cy="24284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Physical Prototyping: T</a:t>
            </a: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ransition from simulation to physical manufacturing using 3D printed molds to cast silicone, allowing for a direct comparison between the FEM simulation and real-world kinematic behavior.</a:t>
            </a:r>
          </a:p>
          <a:p>
            <a:pPr algn="l" marL="489791" indent="-244895" lvl="1">
              <a:lnSpc>
                <a:spcPts val="3176"/>
              </a:lnSpc>
              <a:buFont typeface="Arial"/>
              <a:buChar char="•"/>
            </a:pPr>
            <a:r>
              <a:rPr lang="en-US" sz="2268" spc="24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Controller Upgrade: Implement a closed-loop control system to replace the current open-loop cosine function, enabling more precise trajectory tracking.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2571653">
            <a:off x="16043607" y="1949665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721875" y="6598087"/>
            <a:ext cx="3969133" cy="4512515"/>
          </a:xfrm>
          <a:custGeom>
            <a:avLst/>
            <a:gdLst/>
            <a:ahLst/>
            <a:cxnLst/>
            <a:rect r="r" b="b" t="t" l="l"/>
            <a:pathLst>
              <a:path h="4512515" w="3969133">
                <a:moveTo>
                  <a:pt x="0" y="0"/>
                </a:moveTo>
                <a:lnTo>
                  <a:pt x="3969132" y="0"/>
                </a:lnTo>
                <a:lnTo>
                  <a:pt x="3969132" y="4512515"/>
                </a:lnTo>
                <a:lnTo>
                  <a:pt x="0" y="451251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611425" y="6598087"/>
            <a:ext cx="3280251" cy="4108874"/>
          </a:xfrm>
          <a:custGeom>
            <a:avLst/>
            <a:gdLst/>
            <a:ahLst/>
            <a:cxnLst/>
            <a:rect r="r" b="b" t="t" l="l"/>
            <a:pathLst>
              <a:path h="4108874" w="3280251">
                <a:moveTo>
                  <a:pt x="0" y="0"/>
                </a:moveTo>
                <a:lnTo>
                  <a:pt x="3280250" y="0"/>
                </a:lnTo>
                <a:lnTo>
                  <a:pt x="3280250" y="4108874"/>
                </a:lnTo>
                <a:lnTo>
                  <a:pt x="0" y="41088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921125">
            <a:off x="12766498" y="-1741514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0" y="-710214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571653">
            <a:off x="-3050082" y="2465162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166210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0" y="0"/>
                </a:moveTo>
                <a:lnTo>
                  <a:pt x="4647276" y="0"/>
                </a:lnTo>
                <a:lnTo>
                  <a:pt x="4647276" y="3099786"/>
                </a:lnTo>
                <a:lnTo>
                  <a:pt x="0" y="309978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true" flipV="false" rot="0">
            <a:off x="3281798" y="7892064"/>
            <a:ext cx="4647276" cy="3099786"/>
          </a:xfrm>
          <a:custGeom>
            <a:avLst/>
            <a:gdLst/>
            <a:ahLst/>
            <a:cxnLst/>
            <a:rect r="r" b="b" t="t" l="l"/>
            <a:pathLst>
              <a:path h="3099786" w="4647276">
                <a:moveTo>
                  <a:pt x="4647276" y="0"/>
                </a:moveTo>
                <a:lnTo>
                  <a:pt x="0" y="0"/>
                </a:lnTo>
                <a:lnTo>
                  <a:pt x="0" y="3099786"/>
                </a:lnTo>
                <a:lnTo>
                  <a:pt x="4647276" y="3099786"/>
                </a:lnTo>
                <a:lnTo>
                  <a:pt x="4647276" y="0"/>
                </a:lnTo>
                <a:close/>
              </a:path>
            </a:pathLst>
          </a:custGeom>
          <a:blipFill>
            <a:blip r:embed="rId10">
              <a:alphaModFix amt="43000"/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EF6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339749" y="2482062"/>
            <a:ext cx="7238619" cy="8229600"/>
          </a:xfrm>
          <a:custGeom>
            <a:avLst/>
            <a:gdLst/>
            <a:ahLst/>
            <a:cxnLst/>
            <a:rect r="r" b="b" t="t" l="l"/>
            <a:pathLst>
              <a:path h="8229600" w="7238619">
                <a:moveTo>
                  <a:pt x="0" y="0"/>
                </a:moveTo>
                <a:lnTo>
                  <a:pt x="7238619" y="0"/>
                </a:lnTo>
                <a:lnTo>
                  <a:pt x="7238619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102861" y="4112027"/>
            <a:ext cx="5054215" cy="6330958"/>
          </a:xfrm>
          <a:custGeom>
            <a:avLst/>
            <a:gdLst/>
            <a:ahLst/>
            <a:cxnLst/>
            <a:rect r="r" b="b" t="t" l="l"/>
            <a:pathLst>
              <a:path h="6330958" w="5054215">
                <a:moveTo>
                  <a:pt x="0" y="0"/>
                </a:moveTo>
                <a:lnTo>
                  <a:pt x="5054215" y="0"/>
                </a:lnTo>
                <a:lnTo>
                  <a:pt x="5054215" y="6330958"/>
                </a:lnTo>
                <a:lnTo>
                  <a:pt x="0" y="63309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402607" y="3061837"/>
            <a:ext cx="11482787" cy="45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426"/>
              </a:lnSpc>
            </a:pPr>
            <a:r>
              <a:rPr lang="en-US" sz="17965" b="true">
                <a:solidFill>
                  <a:srgbClr val="143F87"/>
                </a:solidFill>
                <a:latin typeface="Stinger Wide Bold"/>
                <a:ea typeface="Stinger Wide Bold"/>
                <a:cs typeface="Stinger Wide Bold"/>
                <a:sym typeface="Stinger Wide Bold"/>
              </a:rPr>
              <a:t>Thank You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921125">
            <a:off x="-1351009" y="-1529351"/>
            <a:ext cx="5550511" cy="5550511"/>
          </a:xfrm>
          <a:custGeom>
            <a:avLst/>
            <a:gdLst/>
            <a:ahLst/>
            <a:cxnLst/>
            <a:rect r="r" b="b" t="t" l="l"/>
            <a:pathLst>
              <a:path h="5550511" w="5550511">
                <a:moveTo>
                  <a:pt x="0" y="0"/>
                </a:moveTo>
                <a:lnTo>
                  <a:pt x="5550511" y="0"/>
                </a:lnTo>
                <a:lnTo>
                  <a:pt x="5550511" y="5550511"/>
                </a:lnTo>
                <a:lnTo>
                  <a:pt x="0" y="555051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571653">
            <a:off x="6899607" y="-3050983"/>
            <a:ext cx="4488785" cy="5378719"/>
          </a:xfrm>
          <a:custGeom>
            <a:avLst/>
            <a:gdLst/>
            <a:ahLst/>
            <a:cxnLst/>
            <a:rect r="r" b="b" t="t" l="l"/>
            <a:pathLst>
              <a:path h="5378719" w="4488785">
                <a:moveTo>
                  <a:pt x="0" y="0"/>
                </a:moveTo>
                <a:lnTo>
                  <a:pt x="4488786" y="0"/>
                </a:lnTo>
                <a:lnTo>
                  <a:pt x="4488786" y="5378719"/>
                </a:lnTo>
                <a:lnTo>
                  <a:pt x="0" y="537871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112785" y="8078812"/>
            <a:ext cx="4062430" cy="4114800"/>
          </a:xfrm>
          <a:custGeom>
            <a:avLst/>
            <a:gdLst/>
            <a:ahLst/>
            <a:cxnLst/>
            <a:rect r="r" b="b" t="t" l="l"/>
            <a:pathLst>
              <a:path h="4114800" w="4062430">
                <a:moveTo>
                  <a:pt x="0" y="0"/>
                </a:moveTo>
                <a:lnTo>
                  <a:pt x="4062430" y="0"/>
                </a:lnTo>
                <a:lnTo>
                  <a:pt x="406243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80430" y="-1632738"/>
            <a:ext cx="4581255" cy="4114800"/>
          </a:xfrm>
          <a:custGeom>
            <a:avLst/>
            <a:gdLst/>
            <a:ahLst/>
            <a:cxnLst/>
            <a:rect r="r" b="b" t="t" l="l"/>
            <a:pathLst>
              <a:path h="4114800" w="4581255">
                <a:moveTo>
                  <a:pt x="0" y="0"/>
                </a:moveTo>
                <a:lnTo>
                  <a:pt x="4581255" y="0"/>
                </a:lnTo>
                <a:lnTo>
                  <a:pt x="458125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DAHSMWv3-Os</dc:identifier>
  <dcterms:modified xsi:type="dcterms:W3CDTF">2011-08-01T06:04:30Z</dcterms:modified>
  <cp:revision>1</cp:revision>
  <dc:title>Blue Modern Robotics Automation Engineering Group Project Presentation</dc:title>
</cp:coreProperties>
</file>